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01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PROYECTOCLIENTE1 / VERSION 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WebBaseDesarrollada</a:t>
            </a:r>
          </a:p>
        </p:txBody>
      </p:sp>
      <p:sp>
        <p:nvSpPr>
          <p:cNvPr id="20" name="shape20"/>
          <p:cNvSpPr/>
          <p:nvPr/>
        </p:nvSpPr>
        <p:spPr>
          <a:xfrm>
            <a:off x="502920" y="2240280"/>
            <a:ext cx="5303520" cy="73152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530352" y="2496312"/>
            <a:ext cx="58521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850" b="0">
                <a:solidFill>
                  <a:srgbClr val="DFF5FC"/>
                </a:solidFill>
                <a:latin typeface="Aptos"/>
              </a:defRPr>
            </a:pPr>
            <a:r>
              <a:rPr lang="es-ES" sz="1850" b="0">
                <a:solidFill>
                  <a:srgbClr val="DFF5FC"/>
                </a:solidFill>
                <a:latin typeface="Aptos"/>
              </a:rPr>
              <a:t>Una evolucion reconocible de la web original: mas tecnica, mas comercial y mas preparada para convertir visitas en consultas cualificadas.</a:t>
            </a:r>
          </a:p>
        </p:txBody>
      </p:sp>
      <p:sp>
        <p:nvSpPr>
          <p:cNvPr id="30" name="shape30"/>
          <p:cNvSpPr/>
          <p:nvPr/>
        </p:nvSpPr>
        <p:spPr>
          <a:xfrm>
            <a:off x="530352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0" name="text40"/>
          <p:cNvSpPr txBox="1"/>
          <p:nvPr/>
        </p:nvSpPr>
        <p:spPr>
          <a:xfrm>
            <a:off x="621792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Mapa orbital</a:t>
            </a:r>
          </a:p>
        </p:txBody>
      </p:sp>
      <p:sp>
        <p:nvSpPr>
          <p:cNvPr id="31" name="shape31"/>
          <p:cNvSpPr/>
          <p:nvPr/>
        </p:nvSpPr>
        <p:spPr>
          <a:xfrm>
            <a:off x="2020824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1" name="text41"/>
          <p:cNvSpPr txBox="1"/>
          <p:nvPr/>
        </p:nvSpPr>
        <p:spPr>
          <a:xfrm>
            <a:off x="2112264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Cinta infinita</a:t>
            </a:r>
          </a:p>
        </p:txBody>
      </p:sp>
      <p:sp>
        <p:nvSpPr>
          <p:cNvPr id="32" name="shape32"/>
          <p:cNvSpPr/>
          <p:nvPr/>
        </p:nvSpPr>
        <p:spPr>
          <a:xfrm>
            <a:off x="3511296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2" name="text42"/>
          <p:cNvSpPr txBox="1"/>
          <p:nvPr/>
        </p:nvSpPr>
        <p:spPr>
          <a:xfrm>
            <a:off x="3602736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Guia lateral</a:t>
            </a:r>
          </a:p>
        </p:txBody>
      </p:sp>
      <p:sp>
        <p:nvSpPr>
          <p:cNvPr id="33" name="shape33"/>
          <p:cNvSpPr/>
          <p:nvPr/>
        </p:nvSpPr>
        <p:spPr>
          <a:xfrm>
            <a:off x="5001768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3" name="text43"/>
          <p:cNvSpPr txBox="1"/>
          <p:nvPr/>
        </p:nvSpPr>
        <p:spPr>
          <a:xfrm>
            <a:off x="5093207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Formulario validado</a:t>
            </a:r>
          </a:p>
        </p:txBody>
      </p:sp>
      <p:sp>
        <p:nvSpPr>
          <p:cNvPr id="60" name="ellipse60"/>
          <p:cNvSpPr/>
          <p:nvPr/>
        </p:nvSpPr>
        <p:spPr>
          <a:xfrm>
            <a:off x="6903720" y="1170432"/>
            <a:ext cx="3886200" cy="2743200"/>
          </a:xfrm>
          <a:prstGeom prst="ellipse">
            <a:avLst/>
          </a:prstGeom>
          <a:noFill/>
          <a:ln w="19050">
            <a:solidFill>
              <a:srgbClr val="00A4D9">
                <a:alpha val="33000"/>
              </a:srgbClr>
            </a:solidFill>
          </a:ln>
        </p:spPr>
      </p:sp>
      <p:sp>
        <p:nvSpPr>
          <p:cNvPr id="61" name="ellipse61"/>
          <p:cNvSpPr/>
          <p:nvPr/>
        </p:nvSpPr>
        <p:spPr>
          <a:xfrm>
            <a:off x="8001000" y="1828800"/>
            <a:ext cx="1325880" cy="1325880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62" name="text62"/>
          <p:cNvSpPr txBox="1"/>
          <p:nvPr/>
        </p:nvSpPr>
        <p:spPr>
          <a:xfrm>
            <a:off x="8321040" y="2157984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2400" b="1">
                <a:solidFill>
                  <a:srgbClr val="FFFFFF"/>
                </a:solidFill>
                <a:latin typeface="Aptos"/>
              </a:defRPr>
            </a:pPr>
            <a:r>
              <a:rPr lang="es-ES" sz="2400" b="1">
                <a:solidFill>
                  <a:srgbClr val="FFFFFF"/>
                </a:solidFill>
                <a:latin typeface="Aptos"/>
              </a:rPr>
              <a:t>HV</a:t>
            </a:r>
          </a:p>
        </p:txBody>
      </p:sp>
      <p:sp>
        <p:nvSpPr>
          <p:cNvPr id="70" name="shape70"/>
          <p:cNvSpPr/>
          <p:nvPr/>
        </p:nvSpPr>
        <p:spPr>
          <a:xfrm>
            <a:off x="6720840" y="1353312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0" name="text80"/>
          <p:cNvSpPr txBox="1"/>
          <p:nvPr/>
        </p:nvSpPr>
        <p:spPr>
          <a:xfrm>
            <a:off x="6830568" y="148132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Productos</a:t>
            </a:r>
          </a:p>
        </p:txBody>
      </p:sp>
      <p:sp>
        <p:nvSpPr>
          <p:cNvPr id="71" name="shape71"/>
          <p:cNvSpPr/>
          <p:nvPr/>
        </p:nvSpPr>
        <p:spPr>
          <a:xfrm>
            <a:off x="9582912" y="157276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1" name="text81"/>
          <p:cNvSpPr txBox="1"/>
          <p:nvPr/>
        </p:nvSpPr>
        <p:spPr>
          <a:xfrm>
            <a:off x="9692640" y="17007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Aplicaciones</a:t>
            </a:r>
          </a:p>
        </p:txBody>
      </p:sp>
      <p:sp>
        <p:nvSpPr>
          <p:cNvPr id="72" name="shape72"/>
          <p:cNvSpPr/>
          <p:nvPr/>
        </p:nvSpPr>
        <p:spPr>
          <a:xfrm>
            <a:off x="7424927" y="331012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2" name="text82"/>
          <p:cNvSpPr txBox="1"/>
          <p:nvPr/>
        </p:nvSpPr>
        <p:spPr>
          <a:xfrm>
            <a:off x="7534655" y="343814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Empresa</a:t>
            </a:r>
          </a:p>
        </p:txBody>
      </p:sp>
      <p:sp>
        <p:nvSpPr>
          <p:cNvPr id="73" name="shape73"/>
          <p:cNvSpPr/>
          <p:nvPr/>
        </p:nvSpPr>
        <p:spPr>
          <a:xfrm>
            <a:off x="9326880" y="321868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3" name="text83"/>
          <p:cNvSpPr txBox="1"/>
          <p:nvPr/>
        </p:nvSpPr>
        <p:spPr>
          <a:xfrm>
            <a:off x="9436607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Proceso</a:t>
            </a:r>
          </a:p>
        </p:txBody>
      </p:sp>
      <p:sp>
        <p:nvSpPr>
          <p:cNvPr id="74" name="shape74"/>
          <p:cNvSpPr/>
          <p:nvPr/>
        </p:nvSpPr>
        <p:spPr>
          <a:xfrm>
            <a:off x="8229600" y="4050791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4" name="text84"/>
          <p:cNvSpPr txBox="1"/>
          <p:nvPr/>
        </p:nvSpPr>
        <p:spPr>
          <a:xfrm>
            <a:off x="8339327" y="4178807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02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INTENCION DE LA VERSION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No sustituir la identidad: desarrollarla.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24028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La V2 mantiene una estructura reconocible para el cliente: productos, aplicaciones, empresa, proceso, documentacion y contacto.</a:t>
            </a:r>
          </a:p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La diferencia esta en la jerarquia visual, la claridad tecnica y la capacidad de orientar al visitante sin saturarlo.</a:t>
            </a:r>
          </a:p>
        </p:txBody>
      </p:sp>
      <p:sp>
        <p:nvSpPr>
          <p:cNvPr id="40" name="shape40"/>
          <p:cNvSpPr/>
          <p:nvPr/>
        </p:nvSpPr>
        <p:spPr>
          <a:xfrm>
            <a:off x="6309360" y="3529584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537960" y="3639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Reconocible</a:t>
            </a:r>
          </a:p>
        </p:txBody>
      </p:sp>
      <p:sp>
        <p:nvSpPr>
          <p:cNvPr id="60" name="text60"/>
          <p:cNvSpPr txBox="1"/>
          <p:nvPr/>
        </p:nvSpPr>
        <p:spPr>
          <a:xfrm>
            <a:off x="8001000" y="36393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Parte de la logica de la web actual para que el cliente identifique su negocio.</a:t>
            </a:r>
          </a:p>
        </p:txBody>
      </p:sp>
      <p:sp>
        <p:nvSpPr>
          <p:cNvPr id="41" name="shape41"/>
          <p:cNvSpPr/>
          <p:nvPr/>
        </p:nvSpPr>
        <p:spPr>
          <a:xfrm>
            <a:off x="6309360" y="4279392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6537960" y="438912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Mas desarrollada</a:t>
            </a:r>
          </a:p>
        </p:txBody>
      </p:sp>
      <p:sp>
        <p:nvSpPr>
          <p:cNvPr id="61" name="text61"/>
          <p:cNvSpPr txBox="1"/>
          <p:nvPr/>
        </p:nvSpPr>
        <p:spPr>
          <a:xfrm>
            <a:off x="8001000" y="43891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Amplia contenido, navegacion y contexto frente a una version meramente intuitiva.</a:t>
            </a:r>
          </a:p>
        </p:txBody>
      </p:sp>
      <p:sp>
        <p:nvSpPr>
          <p:cNvPr id="42" name="shape42"/>
          <p:cNvSpPr/>
          <p:nvPr/>
        </p:nvSpPr>
        <p:spPr>
          <a:xfrm>
            <a:off x="6309360" y="5029200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6537960" y="513892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Mas comercial</a:t>
            </a:r>
          </a:p>
        </p:txBody>
      </p:sp>
      <p:sp>
        <p:nvSpPr>
          <p:cNvPr id="62" name="text62"/>
          <p:cNvSpPr txBox="1"/>
          <p:nvPr/>
        </p:nvSpPr>
        <p:spPr>
          <a:xfrm>
            <a:off x="8001000" y="513892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Conduce hacia consulta tecnica, documentacion y validacion de necesidades.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03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LECTURA DE LA WEB ORIGINAL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Problemas detectados que la V2 corrige.</a:t>
            </a:r>
          </a:p>
        </p:txBody>
      </p:sp>
      <p:sp>
        <p:nvSpPr>
          <p:cNvPr id="30" name="shape30"/>
          <p:cNvSpPr/>
          <p:nvPr/>
        </p:nvSpPr>
        <p:spPr>
          <a:xfrm>
            <a:off x="658368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0" name="shape60"/>
          <p:cNvSpPr/>
          <p:nvPr/>
        </p:nvSpPr>
        <p:spPr>
          <a:xfrm>
            <a:off x="658368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0" name="text80"/>
          <p:cNvSpPr txBox="1"/>
          <p:nvPr/>
        </p:nvSpPr>
        <p:spPr>
          <a:xfrm>
            <a:off x="950976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Jerarquia dispersa</a:t>
            </a:r>
          </a:p>
        </p:txBody>
      </p:sp>
      <p:sp>
        <p:nvSpPr>
          <p:cNvPr id="100" name="text100"/>
          <p:cNvSpPr txBox="1"/>
          <p:nvPr/>
        </p:nvSpPr>
        <p:spPr>
          <a:xfrm>
            <a:off x="950976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Informacion tecnica y comercial repartida sin una ruta clara de lectura.</a:t>
            </a:r>
          </a:p>
        </p:txBody>
      </p:sp>
      <p:sp>
        <p:nvSpPr>
          <p:cNvPr id="31" name="shape31"/>
          <p:cNvSpPr/>
          <p:nvPr/>
        </p:nvSpPr>
        <p:spPr>
          <a:xfrm>
            <a:off x="6007607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1" name="shape61"/>
          <p:cNvSpPr/>
          <p:nvPr/>
        </p:nvSpPr>
        <p:spPr>
          <a:xfrm>
            <a:off x="6007607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1" name="text81"/>
          <p:cNvSpPr txBox="1"/>
          <p:nvPr/>
        </p:nvSpPr>
        <p:spPr>
          <a:xfrm>
            <a:off x="6300215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Bloques repetidos</a:t>
            </a:r>
          </a:p>
        </p:txBody>
      </p:sp>
      <p:sp>
        <p:nvSpPr>
          <p:cNvPr id="101" name="text101"/>
          <p:cNvSpPr txBox="1"/>
          <p:nvPr/>
        </p:nvSpPr>
        <p:spPr>
          <a:xfrm>
            <a:off x="6300215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Contenido redundante que alarga la pagina sin aportar decision.</a:t>
            </a:r>
          </a:p>
        </p:txBody>
      </p:sp>
      <p:sp>
        <p:nvSpPr>
          <p:cNvPr id="32" name="shape32"/>
          <p:cNvSpPr/>
          <p:nvPr/>
        </p:nvSpPr>
        <p:spPr>
          <a:xfrm>
            <a:off x="658368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2" name="shape62"/>
          <p:cNvSpPr/>
          <p:nvPr/>
        </p:nvSpPr>
        <p:spPr>
          <a:xfrm>
            <a:off x="658368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2" name="text82"/>
          <p:cNvSpPr txBox="1"/>
          <p:nvPr/>
        </p:nvSpPr>
        <p:spPr>
          <a:xfrm>
            <a:off x="950976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Producto poco accionable</a:t>
            </a:r>
          </a:p>
        </p:txBody>
      </p:sp>
      <p:sp>
        <p:nvSpPr>
          <p:cNvPr id="102" name="text102"/>
          <p:cNvSpPr txBox="1"/>
          <p:nvPr/>
        </p:nvSpPr>
        <p:spPr>
          <a:xfrm>
            <a:off x="950976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Datos utiles, pero sin un recorrido claro hacia comparacion o consulta.</a:t>
            </a:r>
          </a:p>
        </p:txBody>
      </p:sp>
      <p:sp>
        <p:nvSpPr>
          <p:cNvPr id="33" name="shape33"/>
          <p:cNvSpPr/>
          <p:nvPr/>
        </p:nvSpPr>
        <p:spPr>
          <a:xfrm>
            <a:off x="6007607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3" name="shape63"/>
          <p:cNvSpPr/>
          <p:nvPr/>
        </p:nvSpPr>
        <p:spPr>
          <a:xfrm>
            <a:off x="6007607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3" name="text83"/>
          <p:cNvSpPr txBox="1"/>
          <p:nvPr/>
        </p:nvSpPr>
        <p:spPr>
          <a:xfrm>
            <a:off x="6300215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Contacto debil</a:t>
            </a:r>
          </a:p>
        </p:txBody>
      </p:sp>
      <p:sp>
        <p:nvSpPr>
          <p:cNvPr id="103" name="text103"/>
          <p:cNvSpPr txBox="1"/>
          <p:nvPr/>
        </p:nvSpPr>
        <p:spPr>
          <a:xfrm>
            <a:off x="6300215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Formulario y documentacion no funcionan como cierre natural del recorrido.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04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DIRECCION VISUAL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Azules derivados de la marca, con contraste controlado.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148840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50" b="0">
                <a:solidFill>
                  <a:srgbClr val="DFF5FC"/>
                </a:solidFill>
                <a:latin typeface="Aptos"/>
              </a:defRPr>
            </a:pPr>
            <a:r>
              <a:rPr lang="es-ES" sz="1450" b="0">
                <a:solidFill>
                  <a:srgbClr val="DFF5FC"/>
                </a:solidFill>
                <a:latin typeface="Aptos"/>
              </a:rPr>
              <a:t>Se priorizan azules industriales y celestes tecnicos, dejando negros y grises como soporte, profundidad y contraste.</a:t>
            </a:r>
          </a:p>
          <a:p>
            <a:pPr algn="l">
              <a:defRPr sz="1450" b="0">
                <a:solidFill>
                  <a:srgbClr val="DFF5FC"/>
                </a:solidFill>
                <a:latin typeface="Aptos"/>
              </a:defRPr>
            </a:pPr>
            <a:r>
              <a:rPr lang="es-ES" sz="1450" b="0">
                <a:solidFill>
                  <a:srgbClr val="DFF5FC"/>
                </a:solidFill>
                <a:latin typeface="Aptos"/>
              </a:rPr>
              <a:t>Tras la revision de hoy, los textos sobre fondo claro se han oscurecido y los textos sobre tarjetas mantienen blanco/azul hielo para lectura limpia.</a:t>
            </a:r>
          </a:p>
        </p:txBody>
      </p:sp>
      <p:sp>
        <p:nvSpPr>
          <p:cNvPr id="40" name="shape40"/>
          <p:cNvSpPr/>
          <p:nvPr/>
        </p:nvSpPr>
        <p:spPr>
          <a:xfrm>
            <a:off x="621792" y="3886200"/>
            <a:ext cx="1627632" cy="786384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FFFFFF">
                <a:alpha val="25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21792" y="482803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Navy</a:t>
            </a:r>
          </a:p>
        </p:txBody>
      </p:sp>
      <p:sp>
        <p:nvSpPr>
          <p:cNvPr id="60" name="text60"/>
          <p:cNvSpPr txBox="1"/>
          <p:nvPr/>
        </p:nvSpPr>
        <p:spPr>
          <a:xfrm>
            <a:off x="621792" y="50749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760" b="0">
                <a:solidFill>
                  <a:srgbClr val="A9D4E6"/>
                </a:solidFill>
                <a:latin typeface="Aptos"/>
              </a:defRPr>
            </a:pPr>
            <a:r>
              <a:rPr lang="es-ES" sz="760" b="0">
                <a:solidFill>
                  <a:srgbClr val="A9D4E6"/>
                </a:solidFill>
                <a:latin typeface="Aptos"/>
              </a:rPr>
              <a:t>#002337</a:t>
            </a:r>
          </a:p>
        </p:txBody>
      </p:sp>
      <p:sp>
        <p:nvSpPr>
          <p:cNvPr id="41" name="shape41"/>
          <p:cNvSpPr/>
          <p:nvPr/>
        </p:nvSpPr>
        <p:spPr>
          <a:xfrm>
            <a:off x="2770632" y="3886200"/>
            <a:ext cx="1627632" cy="786384"/>
          </a:xfrm>
          <a:prstGeom prst="roundRect">
            <a:avLst/>
          </a:prstGeom>
          <a:solidFill>
            <a:srgbClr val="0077A8"/>
          </a:solidFill>
          <a:ln w="12700">
            <a:solidFill>
              <a:srgbClr val="FFFFFF">
                <a:alpha val="25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2770632" y="482803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Logo blue</a:t>
            </a:r>
          </a:p>
        </p:txBody>
      </p:sp>
      <p:sp>
        <p:nvSpPr>
          <p:cNvPr id="61" name="text61"/>
          <p:cNvSpPr txBox="1"/>
          <p:nvPr/>
        </p:nvSpPr>
        <p:spPr>
          <a:xfrm>
            <a:off x="2770632" y="50749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760" b="0">
                <a:solidFill>
                  <a:srgbClr val="A9D4E6"/>
                </a:solidFill>
                <a:latin typeface="Aptos"/>
              </a:defRPr>
            </a:pPr>
            <a:r>
              <a:rPr lang="es-ES" sz="760" b="0">
                <a:solidFill>
                  <a:srgbClr val="A9D4E6"/>
                </a:solidFill>
                <a:latin typeface="Aptos"/>
              </a:rPr>
              <a:t>#0077A8</a:t>
            </a:r>
          </a:p>
        </p:txBody>
      </p:sp>
      <p:sp>
        <p:nvSpPr>
          <p:cNvPr id="42" name="shape42"/>
          <p:cNvSpPr/>
          <p:nvPr/>
        </p:nvSpPr>
        <p:spPr>
          <a:xfrm>
            <a:off x="4919472" y="3886200"/>
            <a:ext cx="1627632" cy="786384"/>
          </a:xfrm>
          <a:prstGeom prst="roundRect">
            <a:avLst/>
          </a:prstGeom>
          <a:solidFill>
            <a:srgbClr val="00A4D9"/>
          </a:solidFill>
          <a:ln w="12700">
            <a:solidFill>
              <a:srgbClr val="FFFFFF">
                <a:alpha val="25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4919472" y="482803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Technical cyan</a:t>
            </a:r>
          </a:p>
        </p:txBody>
      </p:sp>
      <p:sp>
        <p:nvSpPr>
          <p:cNvPr id="62" name="text62"/>
          <p:cNvSpPr txBox="1"/>
          <p:nvPr/>
        </p:nvSpPr>
        <p:spPr>
          <a:xfrm>
            <a:off x="4919472" y="50749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760" b="0">
                <a:solidFill>
                  <a:srgbClr val="A9D4E6"/>
                </a:solidFill>
                <a:latin typeface="Aptos"/>
              </a:defRPr>
            </a:pPr>
            <a:r>
              <a:rPr lang="es-ES" sz="760" b="0">
                <a:solidFill>
                  <a:srgbClr val="A9D4E6"/>
                </a:solidFill>
                <a:latin typeface="Aptos"/>
              </a:rPr>
              <a:t>#00A4D9</a:t>
            </a:r>
          </a:p>
        </p:txBody>
      </p:sp>
      <p:sp>
        <p:nvSpPr>
          <p:cNvPr id="43" name="shape43"/>
          <p:cNvSpPr/>
          <p:nvPr/>
        </p:nvSpPr>
        <p:spPr>
          <a:xfrm>
            <a:off x="7068312" y="3886200"/>
            <a:ext cx="1627632" cy="786384"/>
          </a:xfrm>
          <a:prstGeom prst="roundRect">
            <a:avLst/>
          </a:prstGeom>
          <a:solidFill>
            <a:srgbClr val="DFF5FC"/>
          </a:solidFill>
          <a:ln w="12700">
            <a:solidFill>
              <a:srgbClr val="FFFFFF">
                <a:alpha val="25000"/>
              </a:srgbClr>
            </a:solidFill>
          </a:ln>
        </p:spPr>
      </p:sp>
      <p:sp>
        <p:nvSpPr>
          <p:cNvPr id="53" name="text53"/>
          <p:cNvSpPr txBox="1"/>
          <p:nvPr/>
        </p:nvSpPr>
        <p:spPr>
          <a:xfrm>
            <a:off x="7068312" y="482803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Ice text</a:t>
            </a:r>
          </a:p>
        </p:txBody>
      </p:sp>
      <p:sp>
        <p:nvSpPr>
          <p:cNvPr id="63" name="text63"/>
          <p:cNvSpPr txBox="1"/>
          <p:nvPr/>
        </p:nvSpPr>
        <p:spPr>
          <a:xfrm>
            <a:off x="7068312" y="50749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760" b="0">
                <a:solidFill>
                  <a:srgbClr val="A9D4E6"/>
                </a:solidFill>
                <a:latin typeface="Aptos"/>
              </a:defRPr>
            </a:pPr>
            <a:r>
              <a:rPr lang="es-ES" sz="760" b="0">
                <a:solidFill>
                  <a:srgbClr val="A9D4E6"/>
                </a:solidFill>
                <a:latin typeface="Aptos"/>
              </a:rPr>
              <a:t>#DFF5FC</a:t>
            </a:r>
          </a:p>
        </p:txBody>
      </p:sp>
      <p:sp>
        <p:nvSpPr>
          <p:cNvPr id="44" name="shape44"/>
          <p:cNvSpPr/>
          <p:nvPr/>
        </p:nvSpPr>
        <p:spPr>
          <a:xfrm>
            <a:off x="9217152" y="3886200"/>
            <a:ext cx="1627632" cy="786384"/>
          </a:xfrm>
          <a:prstGeom prst="roundRect">
            <a:avLst/>
          </a:prstGeom>
          <a:solidFill>
            <a:srgbClr val="87BDD5"/>
          </a:solidFill>
          <a:ln w="12700">
            <a:solidFill>
              <a:srgbClr val="FFFFFF">
                <a:alpha val="25000"/>
              </a:srgbClr>
            </a:solidFill>
          </a:ln>
        </p:spPr>
      </p:sp>
      <p:sp>
        <p:nvSpPr>
          <p:cNvPr id="54" name="text54"/>
          <p:cNvSpPr txBox="1"/>
          <p:nvPr/>
        </p:nvSpPr>
        <p:spPr>
          <a:xfrm>
            <a:off x="9217152" y="482803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64" name="text64"/>
          <p:cNvSpPr txBox="1"/>
          <p:nvPr/>
        </p:nvSpPr>
        <p:spPr>
          <a:xfrm>
            <a:off x="9217152" y="50749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760" b="0">
                <a:solidFill>
                  <a:srgbClr val="A9D4E6"/>
                </a:solidFill>
                <a:latin typeface="Aptos"/>
              </a:defRPr>
            </a:pPr>
            <a:r>
              <a:rPr lang="es-ES" sz="760" b="0">
                <a:solidFill>
                  <a:srgbClr val="A9D4E6"/>
                </a:solidFill>
                <a:latin typeface="Aptos"/>
              </a:rPr>
              <a:t>#87BDD5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05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NAVEGACION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Orbita principal y mapa miniaturizado.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176272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0">
                <a:solidFill>
                  <a:srgbClr val="DFF5FC"/>
                </a:solidFill>
                <a:latin typeface="Aptos"/>
              </a:defRPr>
            </a:pPr>
            <a:r>
              <a:rPr lang="es-ES" sz="1400" b="0">
                <a:solidFill>
                  <a:srgbClr val="DFF5FC"/>
                </a:solidFill>
                <a:latin typeface="Aptos"/>
              </a:rPr>
              <a:t>La orbita presenta las secciones clave como recorrido visual, no como menu estatico.</a:t>
            </a:r>
          </a:p>
          <a:p>
            <a:pPr algn="l">
              <a:defRPr sz="1400" b="0">
                <a:solidFill>
                  <a:srgbClr val="DFF5FC"/>
                </a:solidFill>
                <a:latin typeface="Aptos"/>
              </a:defRPr>
            </a:pPr>
            <a:r>
              <a:rPr lang="es-ES" sz="1400" b="0">
                <a:solidFill>
                  <a:srgbClr val="DFF5FC"/>
                </a:solidFill>
                <a:latin typeface="Aptos"/>
              </a:rPr>
              <a:t>El mapa reducido conserva funciones desde la cabecera fija para que la navegacion siga disponible durante el scroll.</a:t>
            </a:r>
          </a:p>
        </p:txBody>
      </p:sp>
      <p:sp>
        <p:nvSpPr>
          <p:cNvPr id="40" name="ellipse40"/>
          <p:cNvSpPr/>
          <p:nvPr/>
        </p:nvSpPr>
        <p:spPr>
          <a:xfrm>
            <a:off x="5532120" y="1572768"/>
            <a:ext cx="4800600" cy="3246120"/>
          </a:xfrm>
          <a:prstGeom prst="ellipse">
            <a:avLst/>
          </a:prstGeom>
          <a:noFill/>
          <a:ln w="19050">
            <a:solidFill>
              <a:srgbClr val="00A4D9">
                <a:alpha val="30000"/>
              </a:srgbClr>
            </a:solidFill>
          </a:ln>
        </p:spPr>
      </p:sp>
      <p:sp>
        <p:nvSpPr>
          <p:cNvPr id="41" name="ellipse41"/>
          <p:cNvSpPr/>
          <p:nvPr/>
        </p:nvSpPr>
        <p:spPr>
          <a:xfrm>
            <a:off x="7315200" y="2404872"/>
            <a:ext cx="1207008" cy="1207008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42" name="text42"/>
          <p:cNvSpPr txBox="1"/>
          <p:nvPr/>
        </p:nvSpPr>
        <p:spPr>
          <a:xfrm>
            <a:off x="7598664" y="268833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es-ES" sz="2000" b="1">
                <a:solidFill>
                  <a:srgbClr val="FFFFFF"/>
                </a:solidFill>
                <a:latin typeface="Aptos"/>
              </a:rPr>
              <a:t>HV</a:t>
            </a:r>
          </a:p>
        </p:txBody>
      </p:sp>
      <p:sp>
        <p:nvSpPr>
          <p:cNvPr id="60" name="shape60"/>
          <p:cNvSpPr/>
          <p:nvPr/>
        </p:nvSpPr>
        <p:spPr>
          <a:xfrm>
            <a:off x="5669280" y="1920240"/>
            <a:ext cx="1783080" cy="50292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9000"/>
              </a:srgbClr>
            </a:solidFill>
          </a:ln>
        </p:spPr>
      </p:sp>
      <p:sp>
        <p:nvSpPr>
          <p:cNvPr id="70" name="text70"/>
          <p:cNvSpPr txBox="1"/>
          <p:nvPr/>
        </p:nvSpPr>
        <p:spPr>
          <a:xfrm>
            <a:off x="5760720" y="207568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Productos</a:t>
            </a:r>
          </a:p>
        </p:txBody>
      </p:sp>
      <p:sp>
        <p:nvSpPr>
          <p:cNvPr id="61" name="shape61"/>
          <p:cNvSpPr/>
          <p:nvPr/>
        </p:nvSpPr>
        <p:spPr>
          <a:xfrm>
            <a:off x="9098280" y="1828800"/>
            <a:ext cx="1783080" cy="50292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9000"/>
              </a:srgbClr>
            </a:solidFill>
          </a:ln>
        </p:spPr>
      </p:sp>
      <p:sp>
        <p:nvSpPr>
          <p:cNvPr id="71" name="text71"/>
          <p:cNvSpPr txBox="1"/>
          <p:nvPr/>
        </p:nvSpPr>
        <p:spPr>
          <a:xfrm>
            <a:off x="9189719" y="198424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Aplicaciones</a:t>
            </a:r>
          </a:p>
        </p:txBody>
      </p:sp>
      <p:sp>
        <p:nvSpPr>
          <p:cNvPr id="62" name="shape62"/>
          <p:cNvSpPr/>
          <p:nvPr/>
        </p:nvSpPr>
        <p:spPr>
          <a:xfrm>
            <a:off x="5897880" y="4023360"/>
            <a:ext cx="1783080" cy="50292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9000"/>
              </a:srgbClr>
            </a:solidFill>
          </a:ln>
        </p:spPr>
      </p:sp>
      <p:sp>
        <p:nvSpPr>
          <p:cNvPr id="72" name="text72"/>
          <p:cNvSpPr txBox="1"/>
          <p:nvPr/>
        </p:nvSpPr>
        <p:spPr>
          <a:xfrm>
            <a:off x="5989320" y="417880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Empresa</a:t>
            </a:r>
          </a:p>
        </p:txBody>
      </p:sp>
      <p:sp>
        <p:nvSpPr>
          <p:cNvPr id="63" name="shape63"/>
          <p:cNvSpPr/>
          <p:nvPr/>
        </p:nvSpPr>
        <p:spPr>
          <a:xfrm>
            <a:off x="9162288" y="3794760"/>
            <a:ext cx="1783080" cy="50292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9000"/>
              </a:srgbClr>
            </a:solidFill>
          </a:ln>
        </p:spPr>
      </p:sp>
      <p:sp>
        <p:nvSpPr>
          <p:cNvPr id="73" name="text73"/>
          <p:cNvSpPr txBox="1"/>
          <p:nvPr/>
        </p:nvSpPr>
        <p:spPr>
          <a:xfrm>
            <a:off x="9253728" y="395020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Proceso</a:t>
            </a:r>
          </a:p>
        </p:txBody>
      </p:sp>
      <p:sp>
        <p:nvSpPr>
          <p:cNvPr id="64" name="shape64"/>
          <p:cNvSpPr/>
          <p:nvPr/>
        </p:nvSpPr>
        <p:spPr>
          <a:xfrm>
            <a:off x="7360920" y="4526280"/>
            <a:ext cx="1783080" cy="50292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9000"/>
              </a:srgbClr>
            </a:solidFill>
          </a:ln>
        </p:spPr>
      </p:sp>
      <p:sp>
        <p:nvSpPr>
          <p:cNvPr id="74" name="text74"/>
          <p:cNvSpPr txBox="1"/>
          <p:nvPr/>
        </p:nvSpPr>
        <p:spPr>
          <a:xfrm>
            <a:off x="7452360" y="468172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Documentacion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06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PRODUCTOS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Cinta infinita y ficha tecnica progresiva.</a:t>
            </a:r>
          </a:p>
        </p:txBody>
      </p:sp>
      <p:sp>
        <p:nvSpPr>
          <p:cNvPr id="30" name="shape30"/>
          <p:cNvSpPr/>
          <p:nvPr/>
        </p:nvSpPr>
        <p:spPr>
          <a:xfrm>
            <a:off x="658368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0" name="shape60"/>
          <p:cNvSpPr/>
          <p:nvPr/>
        </p:nvSpPr>
        <p:spPr>
          <a:xfrm>
            <a:off x="658368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0" name="text80"/>
          <p:cNvSpPr txBox="1"/>
          <p:nvPr/>
        </p:nvSpPr>
        <p:spPr>
          <a:xfrm>
            <a:off x="950976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Cinta visual</a:t>
            </a:r>
          </a:p>
        </p:txBody>
      </p:sp>
      <p:sp>
        <p:nvSpPr>
          <p:cNvPr id="100" name="text100"/>
          <p:cNvSpPr txBox="1"/>
          <p:nvPr/>
        </p:nvSpPr>
        <p:spPr>
          <a:xfrm>
            <a:off x="950976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Las familias NMC, LFP y BMS se reconocen por imagen antes de entrar en datos.</a:t>
            </a:r>
          </a:p>
        </p:txBody>
      </p:sp>
      <p:sp>
        <p:nvSpPr>
          <p:cNvPr id="31" name="shape31"/>
          <p:cNvSpPr/>
          <p:nvPr/>
        </p:nvSpPr>
        <p:spPr>
          <a:xfrm>
            <a:off x="6007607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1" name="shape61"/>
          <p:cNvSpPr/>
          <p:nvPr/>
        </p:nvSpPr>
        <p:spPr>
          <a:xfrm>
            <a:off x="6007607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1" name="text81"/>
          <p:cNvSpPr txBox="1"/>
          <p:nvPr/>
        </p:nvSpPr>
        <p:spPr>
          <a:xfrm>
            <a:off x="6300215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Hover controlado</a:t>
            </a:r>
          </a:p>
        </p:txBody>
      </p:sp>
      <p:sp>
        <p:nvSpPr>
          <p:cNvPr id="101" name="text101"/>
          <p:cNvSpPr txBox="1"/>
          <p:nvPr/>
        </p:nvSpPr>
        <p:spPr>
          <a:xfrm>
            <a:off x="6300215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La informacion del carrusel ya no aparece abierta por defecto: solo se despliega con interaccion.</a:t>
            </a:r>
          </a:p>
        </p:txBody>
      </p:sp>
      <p:sp>
        <p:nvSpPr>
          <p:cNvPr id="32" name="shape32"/>
          <p:cNvSpPr/>
          <p:nvPr/>
        </p:nvSpPr>
        <p:spPr>
          <a:xfrm>
            <a:off x="658368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2" name="shape62"/>
          <p:cNvSpPr/>
          <p:nvPr/>
        </p:nvSpPr>
        <p:spPr>
          <a:xfrm>
            <a:off x="658368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2" name="text82"/>
          <p:cNvSpPr txBox="1"/>
          <p:nvPr/>
        </p:nvSpPr>
        <p:spPr>
          <a:xfrm>
            <a:off x="950976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Ficha dinamica</a:t>
            </a:r>
          </a:p>
        </p:txBody>
      </p:sp>
      <p:sp>
        <p:nvSpPr>
          <p:cNvPr id="102" name="text102"/>
          <p:cNvSpPr txBox="1"/>
          <p:nvPr/>
        </p:nvSpPr>
        <p:spPr>
          <a:xfrm>
            <a:off x="950976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Energia, tension, dimensiones, protocolo y compatibilidad se presentan en tarjetas legibles.</a:t>
            </a:r>
          </a:p>
        </p:txBody>
      </p:sp>
      <p:sp>
        <p:nvSpPr>
          <p:cNvPr id="33" name="shape33"/>
          <p:cNvSpPr/>
          <p:nvPr/>
        </p:nvSpPr>
        <p:spPr>
          <a:xfrm>
            <a:off x="6007607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3" name="shape63"/>
          <p:cNvSpPr/>
          <p:nvPr/>
        </p:nvSpPr>
        <p:spPr>
          <a:xfrm>
            <a:off x="6007607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3" name="text83"/>
          <p:cNvSpPr txBox="1"/>
          <p:nvPr/>
        </p:nvSpPr>
        <p:spPr>
          <a:xfrm>
            <a:off x="6300215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CTA coherentes</a:t>
            </a:r>
          </a:p>
        </p:txBody>
      </p:sp>
      <p:sp>
        <p:nvSpPr>
          <p:cNvPr id="103" name="text103"/>
          <p:cNvSpPr txBox="1"/>
          <p:nvPr/>
        </p:nvSpPr>
        <p:spPr>
          <a:xfrm>
            <a:off x="6300215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Incluir en consulta y Ver documentacion comparten tratamiento visual fuerte.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07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APLICACIONES Y EMPRESA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Mas contexto para un visitante tecnico.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24028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Las aplicaciones se organizan por uso real: bus, marino, agricola, vehiculos comerciales, carga movil y ferrocarril.</a:t>
            </a:r>
          </a:p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Las capacidades de empresa explican integracion, soporte, series cortas/medias y arquitectura multipack.</a:t>
            </a:r>
          </a:p>
        </p:txBody>
      </p:sp>
      <p:sp>
        <p:nvSpPr>
          <p:cNvPr id="40" name="shape40"/>
          <p:cNvSpPr/>
          <p:nvPr/>
        </p:nvSpPr>
        <p:spPr>
          <a:xfrm>
            <a:off x="6309360" y="3529584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537960" y="3639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Aplicaciones</a:t>
            </a:r>
          </a:p>
        </p:txBody>
      </p:sp>
      <p:sp>
        <p:nvSpPr>
          <p:cNvPr id="60" name="text60"/>
          <p:cNvSpPr txBox="1"/>
          <p:nvPr/>
        </p:nvSpPr>
        <p:spPr>
          <a:xfrm>
            <a:off x="8001000" y="36393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Tarjetas escaneables con CTA visible y contraste corregido.</a:t>
            </a:r>
          </a:p>
        </p:txBody>
      </p:sp>
      <p:sp>
        <p:nvSpPr>
          <p:cNvPr id="41" name="shape41"/>
          <p:cNvSpPr/>
          <p:nvPr/>
        </p:nvSpPr>
        <p:spPr>
          <a:xfrm>
            <a:off x="6309360" y="4279392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6537960" y="438912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Capacidades</a:t>
            </a:r>
          </a:p>
        </p:txBody>
      </p:sp>
      <p:sp>
        <p:nvSpPr>
          <p:cNvPr id="61" name="text61"/>
          <p:cNvSpPr txBox="1"/>
          <p:nvPr/>
        </p:nvSpPr>
        <p:spPr>
          <a:xfrm>
            <a:off x="8001000" y="43891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Mensajes orientados a OEMs y necesidades industriales exigentes.</a:t>
            </a:r>
          </a:p>
        </p:txBody>
      </p:sp>
      <p:sp>
        <p:nvSpPr>
          <p:cNvPr id="42" name="shape42"/>
          <p:cNvSpPr/>
          <p:nvPr/>
        </p:nvSpPr>
        <p:spPr>
          <a:xfrm>
            <a:off x="6309360" y="5029200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6537960" y="513892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Proceso</a:t>
            </a:r>
          </a:p>
        </p:txBody>
      </p:sp>
      <p:sp>
        <p:nvSpPr>
          <p:cNvPr id="62" name="text62"/>
          <p:cNvSpPr txBox="1"/>
          <p:nvPr/>
        </p:nvSpPr>
        <p:spPr>
          <a:xfrm>
            <a:off x="8001000" y="513892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Tres fases claras desde viabilidad hasta puesta en marcha.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08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PROCESO GUIADO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Una guia lateral que acompana sin ocupar la pagina.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121408"/>
            <a:ext cx="5212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80" b="0">
                <a:solidFill>
                  <a:srgbClr val="DFF5FC"/>
                </a:solidFill>
                <a:latin typeface="Aptos"/>
              </a:defRPr>
            </a:pPr>
            <a:r>
              <a:rPr lang="es-ES" sz="1380" b="0">
                <a:solidFill>
                  <a:srgbClr val="DFF5FC"/>
                </a:solidFill>
                <a:latin typeface="Aptos"/>
              </a:rPr>
              <a:t>La guia fija permite explicar como navegar la version: mapa orbital, productos, aplicaciones, empresa, documentacion y contacto.</a:t>
            </a:r>
          </a:p>
          <a:p>
            <a:pPr algn="l">
              <a:defRPr sz="1380" b="0">
                <a:solidFill>
                  <a:srgbClr val="DFF5FC"/>
                </a:solidFill>
                <a:latin typeface="Aptos"/>
              </a:defRPr>
            </a:pPr>
            <a:r>
              <a:rPr lang="es-ES" sz="1380" b="0">
                <a:solidFill>
                  <a:srgbClr val="DFF5FC"/>
                </a:solidFill>
                <a:latin typeface="Aptos"/>
              </a:rPr>
              <a:t>El panel se despliega desde la izquierda y conserva una lectura propia, adaptada a la V2 y no copiada de la V1.</a:t>
            </a:r>
          </a:p>
        </p:txBody>
      </p:sp>
      <p:sp>
        <p:nvSpPr>
          <p:cNvPr id="40" name="ellipse40"/>
          <p:cNvSpPr/>
          <p:nvPr/>
        </p:nvSpPr>
        <p:spPr>
          <a:xfrm>
            <a:off x="6172200" y="1965960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291072" y="2066544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0" name="shape70"/>
          <p:cNvSpPr/>
          <p:nvPr/>
        </p:nvSpPr>
        <p:spPr>
          <a:xfrm>
            <a:off x="6720840" y="1938528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0" name="text90"/>
          <p:cNvSpPr txBox="1"/>
          <p:nvPr/>
        </p:nvSpPr>
        <p:spPr>
          <a:xfrm>
            <a:off x="6903720" y="208483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Entrada orbital</a:t>
            </a:r>
          </a:p>
        </p:txBody>
      </p:sp>
      <p:sp>
        <p:nvSpPr>
          <p:cNvPr id="41" name="ellipse41"/>
          <p:cNvSpPr/>
          <p:nvPr/>
        </p:nvSpPr>
        <p:spPr>
          <a:xfrm>
            <a:off x="6172200" y="2770632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6291072" y="2871216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1" name="shape71"/>
          <p:cNvSpPr/>
          <p:nvPr/>
        </p:nvSpPr>
        <p:spPr>
          <a:xfrm>
            <a:off x="6720840" y="2743200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1" name="text91"/>
          <p:cNvSpPr txBox="1"/>
          <p:nvPr/>
        </p:nvSpPr>
        <p:spPr>
          <a:xfrm>
            <a:off x="6903720" y="288950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Lectura de producto</a:t>
            </a:r>
          </a:p>
        </p:txBody>
      </p:sp>
      <p:sp>
        <p:nvSpPr>
          <p:cNvPr id="42" name="ellipse42"/>
          <p:cNvSpPr/>
          <p:nvPr/>
        </p:nvSpPr>
        <p:spPr>
          <a:xfrm>
            <a:off x="6172200" y="3575304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6291072" y="3675888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2" name="shape72"/>
          <p:cNvSpPr/>
          <p:nvPr/>
        </p:nvSpPr>
        <p:spPr>
          <a:xfrm>
            <a:off x="6720840" y="3547872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2" name="text92"/>
          <p:cNvSpPr txBox="1"/>
          <p:nvPr/>
        </p:nvSpPr>
        <p:spPr>
          <a:xfrm>
            <a:off x="6903720" y="3694176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Validacion por aplicacion</a:t>
            </a:r>
          </a:p>
        </p:txBody>
      </p:sp>
      <p:sp>
        <p:nvSpPr>
          <p:cNvPr id="43" name="ellipse43"/>
          <p:cNvSpPr/>
          <p:nvPr/>
        </p:nvSpPr>
        <p:spPr>
          <a:xfrm>
            <a:off x="6172200" y="4379976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3" name="text53"/>
          <p:cNvSpPr txBox="1"/>
          <p:nvPr/>
        </p:nvSpPr>
        <p:spPr>
          <a:xfrm>
            <a:off x="6291072" y="4480560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3" name="shape73"/>
          <p:cNvSpPr/>
          <p:nvPr/>
        </p:nvSpPr>
        <p:spPr>
          <a:xfrm>
            <a:off x="6720840" y="4352544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3" name="text93"/>
          <p:cNvSpPr txBox="1"/>
          <p:nvPr/>
        </p:nvSpPr>
        <p:spPr>
          <a:xfrm>
            <a:off x="6903720" y="44988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Contacto cualificado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09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CONTACTO, VALIDACION Y SEGURIDAD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La web deja de ser escaparate y pasa a cualificar oportunidades.</a:t>
            </a:r>
          </a:p>
        </p:txBody>
      </p:sp>
      <p:sp>
        <p:nvSpPr>
          <p:cNvPr id="30" name="shape30"/>
          <p:cNvSpPr/>
          <p:nvPr/>
        </p:nvSpPr>
        <p:spPr>
          <a:xfrm>
            <a:off x="658368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0" name="shape60"/>
          <p:cNvSpPr/>
          <p:nvPr/>
        </p:nvSpPr>
        <p:spPr>
          <a:xfrm>
            <a:off x="658368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0" name="text80"/>
          <p:cNvSpPr txBox="1"/>
          <p:nvPr/>
        </p:nvSpPr>
        <p:spPr>
          <a:xfrm>
            <a:off x="950976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Formulario endurecido</a:t>
            </a:r>
          </a:p>
        </p:txBody>
      </p:sp>
      <p:sp>
        <p:nvSpPr>
          <p:cNvPr id="100" name="text100"/>
          <p:cNvSpPr txBox="1"/>
          <p:nvPr/>
        </p:nvSpPr>
        <p:spPr>
          <a:xfrm>
            <a:off x="950976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Campos permitidos, honeypot, valores cerrados, mensaje obligatorio y validacion cliente/servidor.</a:t>
            </a:r>
          </a:p>
        </p:txBody>
      </p:sp>
      <p:sp>
        <p:nvSpPr>
          <p:cNvPr id="31" name="shape31"/>
          <p:cNvSpPr/>
          <p:nvPr/>
        </p:nvSpPr>
        <p:spPr>
          <a:xfrm>
            <a:off x="6007607" y="2331720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1" name="shape61"/>
          <p:cNvSpPr/>
          <p:nvPr/>
        </p:nvSpPr>
        <p:spPr>
          <a:xfrm>
            <a:off x="6007607" y="2331720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1" name="text81"/>
          <p:cNvSpPr txBox="1"/>
          <p:nvPr/>
        </p:nvSpPr>
        <p:spPr>
          <a:xfrm>
            <a:off x="6300215" y="25054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Cabeceras basicas</a:t>
            </a:r>
          </a:p>
        </p:txBody>
      </p:sp>
      <p:sp>
        <p:nvSpPr>
          <p:cNvPr id="101" name="text101"/>
          <p:cNvSpPr txBox="1"/>
          <p:nvPr/>
        </p:nvSpPr>
        <p:spPr>
          <a:xfrm>
            <a:off x="6300215" y="2807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CSP, X-Frame-Options, nosniff, Permissions-Policy y proteccion cross-origin.</a:t>
            </a:r>
          </a:p>
        </p:txBody>
      </p:sp>
      <p:sp>
        <p:nvSpPr>
          <p:cNvPr id="32" name="shape32"/>
          <p:cNvSpPr/>
          <p:nvPr/>
        </p:nvSpPr>
        <p:spPr>
          <a:xfrm>
            <a:off x="658368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2" name="shape62"/>
          <p:cNvSpPr/>
          <p:nvPr/>
        </p:nvSpPr>
        <p:spPr>
          <a:xfrm>
            <a:off x="658368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2" name="text82"/>
          <p:cNvSpPr txBox="1"/>
          <p:nvPr/>
        </p:nvSpPr>
        <p:spPr>
          <a:xfrm>
            <a:off x="950976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Traduccion real</a:t>
            </a:r>
          </a:p>
        </p:txBody>
      </p:sp>
      <p:sp>
        <p:nvSpPr>
          <p:cNvPr id="102" name="text102"/>
          <p:cNvSpPr txBox="1"/>
          <p:nvPr/>
        </p:nvSpPr>
        <p:spPr>
          <a:xfrm>
            <a:off x="950976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Textos estaticos y fichas dinamicas de producto en ES, EN, EU y FR.</a:t>
            </a:r>
          </a:p>
        </p:txBody>
      </p:sp>
      <p:sp>
        <p:nvSpPr>
          <p:cNvPr id="33" name="shape33"/>
          <p:cNvSpPr/>
          <p:nvPr/>
        </p:nvSpPr>
        <p:spPr>
          <a:xfrm>
            <a:off x="6007607" y="3749039"/>
            <a:ext cx="4617720" cy="1051560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5000"/>
              </a:srgbClr>
            </a:solidFill>
          </a:ln>
        </p:spPr>
      </p:sp>
      <p:sp>
        <p:nvSpPr>
          <p:cNvPr id="63" name="shape63"/>
          <p:cNvSpPr/>
          <p:nvPr/>
        </p:nvSpPr>
        <p:spPr>
          <a:xfrm>
            <a:off x="6007607" y="3749039"/>
            <a:ext cx="128016" cy="1051560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83" name="text83"/>
          <p:cNvSpPr txBox="1"/>
          <p:nvPr/>
        </p:nvSpPr>
        <p:spPr>
          <a:xfrm>
            <a:off x="6300215" y="3922775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lang="es-ES" sz="1350" b="1">
                <a:solidFill>
                  <a:srgbClr val="FFFFFF"/>
                </a:solidFill>
                <a:latin typeface="Aptos"/>
              </a:rPr>
              <a:t>CTA alineados</a:t>
            </a:r>
          </a:p>
        </p:txBody>
      </p:sp>
      <p:sp>
        <p:nvSpPr>
          <p:cNvPr id="103" name="text103"/>
          <p:cNvSpPr txBox="1"/>
          <p:nvPr/>
        </p:nvSpPr>
        <p:spPr>
          <a:xfrm>
            <a:off x="6300215" y="4224527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0">
                <a:solidFill>
                  <a:srgbClr val="A9D4E6"/>
                </a:solidFill>
                <a:latin typeface="Aptos"/>
              </a:defRPr>
            </a:pPr>
            <a:r>
              <a:rPr lang="es-ES" sz="880" b="0">
                <a:solidFill>
                  <a:srgbClr val="A9D4E6"/>
                </a:solidFill>
                <a:latin typeface="Aptos"/>
              </a:rPr>
              <a:t>Botones de accion con color coherente y legibilidad revisada.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10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RESPONSIVE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Adaptacion pensada para escritorio, tablet y movil.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224028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La cabecera pasa a menu desplegable, la orbita se convierte en grid y las fichas se apilan sin forzar lectura horizontal.</a:t>
            </a:r>
          </a:p>
          <a:p>
            <a:pPr algn="l">
              <a:defRPr sz="1500" b="0">
                <a:solidFill>
                  <a:srgbClr val="DFF5FC"/>
                </a:solidFill>
                <a:latin typeface="Aptos"/>
              </a:defRPr>
            </a:pPr>
            <a:r>
              <a:rPr lang="es-ES" sz="1500" b="0">
                <a:solidFill>
                  <a:srgbClr val="DFF5FC"/>
                </a:solidFill>
                <a:latin typeface="Aptos"/>
              </a:rPr>
              <a:t>Se mantiene la paleta clara aunque el navegador este en modo oscuro, evitando que el cliente vea una version distinta por configuracion del sistema.</a:t>
            </a:r>
          </a:p>
        </p:txBody>
      </p:sp>
      <p:sp>
        <p:nvSpPr>
          <p:cNvPr id="40" name="shape40"/>
          <p:cNvSpPr/>
          <p:nvPr/>
        </p:nvSpPr>
        <p:spPr>
          <a:xfrm>
            <a:off x="6309360" y="3529584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537960" y="3639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1040 px</a:t>
            </a:r>
          </a:p>
        </p:txBody>
      </p:sp>
      <p:sp>
        <p:nvSpPr>
          <p:cNvPr id="60" name="text60"/>
          <p:cNvSpPr txBox="1"/>
          <p:nvPr/>
        </p:nvSpPr>
        <p:spPr>
          <a:xfrm>
            <a:off x="8001000" y="36393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Menu superior compacto.</a:t>
            </a:r>
          </a:p>
        </p:txBody>
      </p:sp>
      <p:sp>
        <p:nvSpPr>
          <p:cNvPr id="41" name="shape41"/>
          <p:cNvSpPr/>
          <p:nvPr/>
        </p:nvSpPr>
        <p:spPr>
          <a:xfrm>
            <a:off x="6309360" y="4279392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6537960" y="438912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900 px</a:t>
            </a:r>
          </a:p>
        </p:txBody>
      </p:sp>
      <p:sp>
        <p:nvSpPr>
          <p:cNvPr id="61" name="text61"/>
          <p:cNvSpPr txBox="1"/>
          <p:nvPr/>
        </p:nvSpPr>
        <p:spPr>
          <a:xfrm>
            <a:off x="8001000" y="43891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Orbita convertida en grid.</a:t>
            </a:r>
          </a:p>
        </p:txBody>
      </p:sp>
      <p:sp>
        <p:nvSpPr>
          <p:cNvPr id="42" name="shape42"/>
          <p:cNvSpPr/>
          <p:nvPr/>
        </p:nvSpPr>
        <p:spPr>
          <a:xfrm>
            <a:off x="6309360" y="5029200"/>
            <a:ext cx="4480560" cy="621792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6537960" y="513892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s-ES" sz="1050" b="1">
                <a:solidFill>
                  <a:srgbClr val="FFFFFF"/>
                </a:solidFill>
                <a:latin typeface="Aptos"/>
              </a:rPr>
              <a:t>680 px</a:t>
            </a:r>
          </a:p>
        </p:txBody>
      </p:sp>
      <p:sp>
        <p:nvSpPr>
          <p:cNvPr id="62" name="text62"/>
          <p:cNvSpPr txBox="1"/>
          <p:nvPr/>
        </p:nvSpPr>
        <p:spPr>
          <a:xfrm>
            <a:off x="8001000" y="513892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780" b="0">
                <a:solidFill>
                  <a:srgbClr val="A9D4E6"/>
                </a:solidFill>
                <a:latin typeface="Aptos"/>
              </a:defRPr>
            </a:pPr>
            <a:r>
              <a:rPr lang="es-ES" sz="780" b="0">
                <a:solidFill>
                  <a:srgbClr val="A9D4E6"/>
                </a:solidFill>
                <a:latin typeface="Aptos"/>
              </a:rPr>
              <a:t>Botones, formularios y tarjetas apilados.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11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RECORRIDO PROPUESTO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Como se presenta esta V2 al cliente.</a:t>
            </a:r>
          </a:p>
        </p:txBody>
      </p:sp>
      <p:sp>
        <p:nvSpPr>
          <p:cNvPr id="40" name="ellipse40"/>
          <p:cNvSpPr/>
          <p:nvPr/>
        </p:nvSpPr>
        <p:spPr>
          <a:xfrm>
            <a:off x="6172200" y="1965960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0" name="text50"/>
          <p:cNvSpPr txBox="1"/>
          <p:nvPr/>
        </p:nvSpPr>
        <p:spPr>
          <a:xfrm>
            <a:off x="6291072" y="2066544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0" name="shape70"/>
          <p:cNvSpPr/>
          <p:nvPr/>
        </p:nvSpPr>
        <p:spPr>
          <a:xfrm>
            <a:off x="6720840" y="1938528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0" name="text90"/>
          <p:cNvSpPr txBox="1"/>
          <p:nvPr/>
        </p:nvSpPr>
        <p:spPr>
          <a:xfrm>
            <a:off x="6903720" y="208483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1. Abrir con la orbita para demostrar una navegacion mas visual.</a:t>
            </a:r>
          </a:p>
        </p:txBody>
      </p:sp>
      <p:sp>
        <p:nvSpPr>
          <p:cNvPr id="41" name="ellipse41"/>
          <p:cNvSpPr/>
          <p:nvPr/>
        </p:nvSpPr>
        <p:spPr>
          <a:xfrm>
            <a:off x="6172200" y="2770632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1" name="text51"/>
          <p:cNvSpPr txBox="1"/>
          <p:nvPr/>
        </p:nvSpPr>
        <p:spPr>
          <a:xfrm>
            <a:off x="6291072" y="2871216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1" name="shape71"/>
          <p:cNvSpPr/>
          <p:nvPr/>
        </p:nvSpPr>
        <p:spPr>
          <a:xfrm>
            <a:off x="6720840" y="2743200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1" name="text91"/>
          <p:cNvSpPr txBox="1"/>
          <p:nvPr/>
        </p:nvSpPr>
        <p:spPr>
          <a:xfrm>
            <a:off x="6903720" y="288950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2. Bajar a productos y ensenar cinta, ficha tecnica y CTAs.</a:t>
            </a:r>
          </a:p>
        </p:txBody>
      </p:sp>
      <p:sp>
        <p:nvSpPr>
          <p:cNvPr id="42" name="ellipse42"/>
          <p:cNvSpPr/>
          <p:nvPr/>
        </p:nvSpPr>
        <p:spPr>
          <a:xfrm>
            <a:off x="6172200" y="3575304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2" name="text52"/>
          <p:cNvSpPr txBox="1"/>
          <p:nvPr/>
        </p:nvSpPr>
        <p:spPr>
          <a:xfrm>
            <a:off x="6291072" y="3675888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2" name="shape72"/>
          <p:cNvSpPr/>
          <p:nvPr/>
        </p:nvSpPr>
        <p:spPr>
          <a:xfrm>
            <a:off x="6720840" y="3547872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2" name="text92"/>
          <p:cNvSpPr txBox="1"/>
          <p:nvPr/>
        </p:nvSpPr>
        <p:spPr>
          <a:xfrm>
            <a:off x="6903720" y="3694176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3. Revisar aplicaciones y capacidades para conectar con casos reales.</a:t>
            </a:r>
          </a:p>
        </p:txBody>
      </p:sp>
      <p:sp>
        <p:nvSpPr>
          <p:cNvPr id="43" name="ellipse43"/>
          <p:cNvSpPr/>
          <p:nvPr/>
        </p:nvSpPr>
        <p:spPr>
          <a:xfrm>
            <a:off x="6172200" y="4379976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3" name="text53"/>
          <p:cNvSpPr txBox="1"/>
          <p:nvPr/>
        </p:nvSpPr>
        <p:spPr>
          <a:xfrm>
            <a:off x="6291072" y="4480560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3" name="shape73"/>
          <p:cNvSpPr/>
          <p:nvPr/>
        </p:nvSpPr>
        <p:spPr>
          <a:xfrm>
            <a:off x="6720840" y="4352544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3" name="text93"/>
          <p:cNvSpPr txBox="1"/>
          <p:nvPr/>
        </p:nvSpPr>
        <p:spPr>
          <a:xfrm>
            <a:off x="6903720" y="44988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4. Abrir Proceso Guiado y mostrar que la web acompana al usuario.</a:t>
            </a:r>
          </a:p>
        </p:txBody>
      </p:sp>
      <p:sp>
        <p:nvSpPr>
          <p:cNvPr id="44" name="ellipse44"/>
          <p:cNvSpPr/>
          <p:nvPr/>
        </p:nvSpPr>
        <p:spPr>
          <a:xfrm>
            <a:off x="6172200" y="5184648"/>
            <a:ext cx="420624" cy="420624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54" name="text54"/>
          <p:cNvSpPr txBox="1"/>
          <p:nvPr/>
        </p:nvSpPr>
        <p:spPr>
          <a:xfrm>
            <a:off x="6291072" y="5285232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s-ES"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4" name="shape74"/>
          <p:cNvSpPr/>
          <p:nvPr/>
        </p:nvSpPr>
        <p:spPr>
          <a:xfrm>
            <a:off x="6720840" y="5157216"/>
            <a:ext cx="4069080" cy="49377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24000"/>
              </a:srgbClr>
            </a:solidFill>
          </a:ln>
        </p:spPr>
      </p:sp>
      <p:sp>
        <p:nvSpPr>
          <p:cNvPr id="94" name="text94"/>
          <p:cNvSpPr txBox="1"/>
          <p:nvPr/>
        </p:nvSpPr>
        <p:spPr>
          <a:xfrm>
            <a:off x="6903720" y="530352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880" b="1">
                <a:solidFill>
                  <a:srgbClr val="DFF5FC"/>
                </a:solidFill>
                <a:latin typeface="Aptos"/>
              </a:defRPr>
            </a:pPr>
            <a:r>
              <a:rPr lang="es-ES" sz="880" b="1">
                <a:solidFill>
                  <a:srgbClr val="DFF5FC"/>
                </a:solidFill>
                <a:latin typeface="Aptos"/>
              </a:rPr>
              <a:t>5. Cerrar con documentacion y formulario validado.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7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7680960" y="-320040"/>
            <a:ext cx="4846320" cy="7680960"/>
          </a:xfrm>
          <a:prstGeom prst="rect">
            <a:avLst/>
          </a:prstGeom>
          <a:solidFill>
            <a:srgbClr val="0077A8">
              <a:alpha val="36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228600" y="6327648"/>
            <a:ext cx="11795760" cy="73152"/>
          </a:xfrm>
          <a:prstGeom prst="rect">
            <a:avLst/>
          </a:prstGeom>
          <a:solidFill>
            <a:srgbClr val="00A4D9">
              <a:alpha val="65000"/>
            </a:srgbClr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378440" y="62727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defRPr sz="900" b="1">
                <a:solidFill>
                  <a:srgbClr val="A9D4E6"/>
                </a:solidFill>
                <a:latin typeface="Aptos"/>
              </a:defRPr>
            </a:pPr>
            <a:r>
              <a:rPr lang="es-ES" sz="900" b="1">
                <a:solidFill>
                  <a:srgbClr val="A9D4E6"/>
                </a:solidFill>
                <a:latin typeface="Aptos"/>
              </a:rPr>
              <a:t>12 / 12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02920" y="31089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50" b="1">
                <a:solidFill>
                  <a:srgbClr val="00A4D9"/>
                </a:solidFill>
                <a:latin typeface="Aptos"/>
              </a:defRPr>
            </a:pPr>
            <a:r>
              <a:rPr lang="es-ES" sz="1250" b="1">
                <a:solidFill>
                  <a:srgbClr val="00A4D9"/>
                </a:solidFill>
                <a:latin typeface="Aptos"/>
              </a:rPr>
              <a:t>CIERRE DE VERSION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749808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rPr lang="es-ES" sz="3900" b="1">
                <a:solidFill>
                  <a:srgbClr val="FFFFFF"/>
                </a:solidFill>
                <a:latin typeface="Aptos Display"/>
              </a:rPr>
              <a:t>V2 como propuesta base desarrollada.</a:t>
            </a:r>
          </a:p>
        </p:txBody>
      </p:sp>
      <p:sp>
        <p:nvSpPr>
          <p:cNvPr id="20" name="shape20"/>
          <p:cNvSpPr/>
          <p:nvPr/>
        </p:nvSpPr>
        <p:spPr>
          <a:xfrm>
            <a:off x="502920" y="2240280"/>
            <a:ext cx="5303520" cy="73152"/>
          </a:xfrm>
          <a:prstGeom prst="rect">
            <a:avLst/>
          </a:prstGeom>
          <a:solidFill>
            <a:srgbClr val="00A4D9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530352" y="2496312"/>
            <a:ext cx="58521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850" b="0">
                <a:solidFill>
                  <a:srgbClr val="DFF5FC"/>
                </a:solidFill>
                <a:latin typeface="Aptos"/>
              </a:defRPr>
            </a:pPr>
            <a:r>
              <a:rPr lang="es-ES" sz="1850" b="0">
                <a:solidFill>
                  <a:srgbClr val="DFF5FC"/>
                </a:solidFill>
                <a:latin typeface="Aptos"/>
              </a:rPr>
              <a:t/>
            </a:r>
          </a:p>
        </p:txBody>
      </p:sp>
      <p:sp>
        <p:nvSpPr>
          <p:cNvPr id="30" name="shape30"/>
          <p:cNvSpPr/>
          <p:nvPr/>
        </p:nvSpPr>
        <p:spPr>
          <a:xfrm>
            <a:off x="530352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0" name="text40"/>
          <p:cNvSpPr txBox="1"/>
          <p:nvPr/>
        </p:nvSpPr>
        <p:spPr>
          <a:xfrm>
            <a:off x="621792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Reconocible</a:t>
            </a:r>
          </a:p>
        </p:txBody>
      </p:sp>
      <p:sp>
        <p:nvSpPr>
          <p:cNvPr id="31" name="shape31"/>
          <p:cNvSpPr/>
          <p:nvPr/>
        </p:nvSpPr>
        <p:spPr>
          <a:xfrm>
            <a:off x="2020824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1" name="text41"/>
          <p:cNvSpPr txBox="1"/>
          <p:nvPr/>
        </p:nvSpPr>
        <p:spPr>
          <a:xfrm>
            <a:off x="2112264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Tecnica</a:t>
            </a:r>
          </a:p>
        </p:txBody>
      </p:sp>
      <p:sp>
        <p:nvSpPr>
          <p:cNvPr id="32" name="shape32"/>
          <p:cNvSpPr/>
          <p:nvPr/>
        </p:nvSpPr>
        <p:spPr>
          <a:xfrm>
            <a:off x="3511296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2" name="text42"/>
          <p:cNvSpPr txBox="1"/>
          <p:nvPr/>
        </p:nvSpPr>
        <p:spPr>
          <a:xfrm>
            <a:off x="3602736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Comercial</a:t>
            </a:r>
          </a:p>
        </p:txBody>
      </p:sp>
      <p:sp>
        <p:nvSpPr>
          <p:cNvPr id="33" name="shape33"/>
          <p:cNvSpPr/>
          <p:nvPr/>
        </p:nvSpPr>
        <p:spPr>
          <a:xfrm>
            <a:off x="5001768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3" name="text43"/>
          <p:cNvSpPr txBox="1"/>
          <p:nvPr/>
        </p:nvSpPr>
        <p:spPr>
          <a:xfrm>
            <a:off x="5093207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Responsive</a:t>
            </a:r>
          </a:p>
        </p:txBody>
      </p:sp>
      <p:sp>
        <p:nvSpPr>
          <p:cNvPr id="34" name="shape34"/>
          <p:cNvSpPr/>
          <p:nvPr/>
        </p:nvSpPr>
        <p:spPr>
          <a:xfrm>
            <a:off x="6492240" y="3749039"/>
            <a:ext cx="1298448" cy="402336"/>
          </a:xfrm>
          <a:prstGeom prst="roundRect">
            <a:avLst/>
          </a:prstGeom>
          <a:solidFill>
            <a:srgbClr val="003F5C"/>
          </a:solidFill>
          <a:ln w="12700">
            <a:solidFill>
              <a:srgbClr val="00A4D9">
                <a:alpha val="46000"/>
              </a:srgbClr>
            </a:solidFill>
          </a:ln>
        </p:spPr>
      </p:sp>
      <p:sp>
        <p:nvSpPr>
          <p:cNvPr id="44" name="text44"/>
          <p:cNvSpPr txBox="1"/>
          <p:nvPr/>
        </p:nvSpPr>
        <p:spPr>
          <a:xfrm>
            <a:off x="6583679" y="385876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s-ES" sz="900" b="1">
                <a:solidFill>
                  <a:srgbClr val="FFFFFF"/>
                </a:solidFill>
                <a:latin typeface="Aptos"/>
              </a:rPr>
              <a:t>Validada</a:t>
            </a:r>
          </a:p>
        </p:txBody>
      </p:sp>
      <p:sp>
        <p:nvSpPr>
          <p:cNvPr id="60" name="ellipse60"/>
          <p:cNvSpPr/>
          <p:nvPr/>
        </p:nvSpPr>
        <p:spPr>
          <a:xfrm>
            <a:off x="6903720" y="1170432"/>
            <a:ext cx="3886200" cy="2743200"/>
          </a:xfrm>
          <a:prstGeom prst="ellipse">
            <a:avLst/>
          </a:prstGeom>
          <a:noFill/>
          <a:ln w="19050">
            <a:solidFill>
              <a:srgbClr val="00A4D9">
                <a:alpha val="33000"/>
              </a:srgbClr>
            </a:solidFill>
          </a:ln>
        </p:spPr>
      </p:sp>
      <p:sp>
        <p:nvSpPr>
          <p:cNvPr id="61" name="ellipse61"/>
          <p:cNvSpPr/>
          <p:nvPr/>
        </p:nvSpPr>
        <p:spPr>
          <a:xfrm>
            <a:off x="8001000" y="1828800"/>
            <a:ext cx="1325880" cy="1325880"/>
          </a:xfrm>
          <a:prstGeom prst="ellipse">
            <a:avLst/>
          </a:prstGeom>
          <a:solidFill>
            <a:srgbClr val="00A4D9"/>
          </a:solidFill>
          <a:ln w="12700">
            <a:solidFill>
              <a:srgbClr val="FFFFFF">
                <a:alpha val="22000"/>
              </a:srgbClr>
            </a:solidFill>
          </a:ln>
        </p:spPr>
      </p:sp>
      <p:sp>
        <p:nvSpPr>
          <p:cNvPr id="62" name="text62"/>
          <p:cNvSpPr txBox="1"/>
          <p:nvPr/>
        </p:nvSpPr>
        <p:spPr>
          <a:xfrm>
            <a:off x="8321040" y="2157984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2400" b="1">
                <a:solidFill>
                  <a:srgbClr val="FFFFFF"/>
                </a:solidFill>
                <a:latin typeface="Aptos"/>
              </a:defRPr>
            </a:pPr>
            <a:r>
              <a:rPr lang="es-ES" sz="2400" b="1">
                <a:solidFill>
                  <a:srgbClr val="FFFFFF"/>
                </a:solidFill>
                <a:latin typeface="Aptos"/>
              </a:rPr>
              <a:t>HV</a:t>
            </a:r>
          </a:p>
        </p:txBody>
      </p:sp>
      <p:sp>
        <p:nvSpPr>
          <p:cNvPr id="70" name="shape70"/>
          <p:cNvSpPr/>
          <p:nvPr/>
        </p:nvSpPr>
        <p:spPr>
          <a:xfrm>
            <a:off x="6720840" y="1353312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0" name="text80"/>
          <p:cNvSpPr txBox="1"/>
          <p:nvPr/>
        </p:nvSpPr>
        <p:spPr>
          <a:xfrm>
            <a:off x="6830568" y="148132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Productos</a:t>
            </a:r>
          </a:p>
        </p:txBody>
      </p:sp>
      <p:sp>
        <p:nvSpPr>
          <p:cNvPr id="71" name="shape71"/>
          <p:cNvSpPr/>
          <p:nvPr/>
        </p:nvSpPr>
        <p:spPr>
          <a:xfrm>
            <a:off x="9582912" y="157276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1" name="text81"/>
          <p:cNvSpPr txBox="1"/>
          <p:nvPr/>
        </p:nvSpPr>
        <p:spPr>
          <a:xfrm>
            <a:off x="9692640" y="17007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Aplicaciones</a:t>
            </a:r>
          </a:p>
        </p:txBody>
      </p:sp>
      <p:sp>
        <p:nvSpPr>
          <p:cNvPr id="72" name="shape72"/>
          <p:cNvSpPr/>
          <p:nvPr/>
        </p:nvSpPr>
        <p:spPr>
          <a:xfrm>
            <a:off x="7424927" y="331012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2" name="text82"/>
          <p:cNvSpPr txBox="1"/>
          <p:nvPr/>
        </p:nvSpPr>
        <p:spPr>
          <a:xfrm>
            <a:off x="7534655" y="343814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Empresa</a:t>
            </a:r>
          </a:p>
        </p:txBody>
      </p:sp>
      <p:sp>
        <p:nvSpPr>
          <p:cNvPr id="73" name="shape73"/>
          <p:cNvSpPr/>
          <p:nvPr/>
        </p:nvSpPr>
        <p:spPr>
          <a:xfrm>
            <a:off x="9326880" y="3218688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3" name="text83"/>
          <p:cNvSpPr txBox="1"/>
          <p:nvPr/>
        </p:nvSpPr>
        <p:spPr>
          <a:xfrm>
            <a:off x="9436607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Proceso</a:t>
            </a:r>
          </a:p>
        </p:txBody>
      </p:sp>
      <p:sp>
        <p:nvSpPr>
          <p:cNvPr id="74" name="shape74"/>
          <p:cNvSpPr/>
          <p:nvPr/>
        </p:nvSpPr>
        <p:spPr>
          <a:xfrm>
            <a:off x="8229600" y="4050791"/>
            <a:ext cx="1508760" cy="438912"/>
          </a:xfrm>
          <a:prstGeom prst="roundRect">
            <a:avLst/>
          </a:prstGeom>
          <a:solidFill>
            <a:srgbClr val="002337"/>
          </a:solidFill>
          <a:ln w="12700">
            <a:solidFill>
              <a:srgbClr val="00A4D9">
                <a:alpha val="30000"/>
              </a:srgbClr>
            </a:solidFill>
          </a:ln>
        </p:spPr>
      </p:sp>
      <p:sp>
        <p:nvSpPr>
          <p:cNvPr id="84" name="text84"/>
          <p:cNvSpPr txBox="1"/>
          <p:nvPr/>
        </p:nvSpPr>
        <p:spPr>
          <a:xfrm>
            <a:off x="8339327" y="4178807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defRPr sz="850" b="1">
                <a:solidFill>
                  <a:srgbClr val="DFF5FC"/>
                </a:solidFill>
                <a:latin typeface="Aptos"/>
              </a:defRPr>
            </a:pPr>
            <a:r>
              <a:rPr lang="es-ES" sz="850" b="1">
                <a:solidFill>
                  <a:srgbClr val="DFF5FC"/>
                </a:solidFill>
                <a:latin typeface="Aptos"/>
              </a:rPr>
              <a:t>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yectoCliente1 V2">
  <a:themeElements>
    <a:clrScheme name="ProyectoCliente1">
      <a:dk1>
        <a:srgbClr val="002337"/>
      </a:dk1>
      <a:lt1>
        <a:srgbClr val="FFFFFF"/>
      </a:lt1>
      <a:dk2>
        <a:srgbClr val="003F5C"/>
      </a:dk2>
      <a:lt2>
        <a:srgbClr val="DFF5FC"/>
      </a:lt2>
      <a:accent1>
        <a:srgbClr val="0077A8"/>
      </a:accent1>
      <a:accent2>
        <a:srgbClr val="00A4D9"/>
      </a:accent2>
      <a:accent3>
        <a:srgbClr val="68B865"/>
      </a:accent3>
      <a:accent4>
        <a:srgbClr val="D59B2E"/>
      </a:accent4>
      <a:accent5>
        <a:srgbClr val="87BDD5"/>
      </a:accent5>
      <a:accent6>
        <a:srgbClr val="A9D4E6"/>
      </a:accent6>
      <a:hlink>
        <a:srgbClr val="00A4D9"/>
      </a:hlink>
      <a:folHlink>
        <a:srgbClr val="68B86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ProyectoCliente1 Version2 WebBaseDesarrollada</dc:title>
  <dc:subject>Presentacion de mejoras y recorrido de la V2</dc:subject>
  <dc:creator>ProyectoCliente1</dc:creator>
  <cp:lastModifiedBy>ProyectoCliente1</cp:lastModifiedBy>
  <dcterms:created xsi:type="dcterms:W3CDTF">2026-06-22T18:01:05Z</dcterms:created>
  <dcterms:modified xsi:type="dcterms:W3CDTF">2026-06-22T18:01:05Z</dcterms:modified>
</cp:coreProperties>
</file>